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53" r:id="rId5"/>
    <p:sldId id="329" r:id="rId6"/>
    <p:sldId id="354" r:id="rId7"/>
    <p:sldId id="345" r:id="rId8"/>
    <p:sldId id="355" r:id="rId9"/>
    <p:sldId id="347" r:id="rId10"/>
    <p:sldId id="357" r:id="rId11"/>
    <p:sldId id="352" r:id="rId12"/>
    <p:sldId id="358" r:id="rId13"/>
    <p:sldId id="361" r:id="rId14"/>
    <p:sldId id="359" r:id="rId15"/>
    <p:sldId id="360" r:id="rId16"/>
    <p:sldId id="363" r:id="rId17"/>
    <p:sldId id="350" r:id="rId18"/>
    <p:sldId id="356" r:id="rId19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966" autoAdjust="0"/>
  </p:normalViewPr>
  <p:slideViewPr>
    <p:cSldViewPr snapToGrid="0">
      <p:cViewPr varScale="1">
        <p:scale>
          <a:sx n="115" d="100"/>
          <a:sy n="115" d="100"/>
        </p:scale>
        <p:origin x="74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Местозаполнитель даты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2A5AE42-7DC1-8140-9B13-146984FDEF22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Местозаполнитель даты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8F75F72-8950-AF4F-9381-1D26FB547EA1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4" name="Местозаполнитель изображения слайда 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стозаполнитель изображения слайда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775476F-A808-1F46-A368-07984F6DA22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910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FD90036E-D78E-7995-BEF4-F64DA613C7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  <a:noFill/>
        </p:spPr>
        <p:txBody>
          <a:bodyPr rtlCol="0" anchor="b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  <a:noFill/>
        </p:spPr>
        <p:txBody>
          <a:bodyPr rtlCol="0"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/>
              <a:t>Образец подзаголовка</a:t>
            </a:r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rtlCol="0" anchor="b">
            <a:normAutofit/>
          </a:bodyPr>
          <a:lstStyle>
            <a:lvl1pPr>
              <a:defRPr sz="40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7" name="Замещающая рамка рисунка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174458" cy="6858000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32" name="Объект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4928" y="6356350"/>
            <a:ext cx="71628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CAF8C32-80F8-F614-8280-02F76781F238}"/>
              </a:ext>
            </a:extLst>
          </p:cNvPr>
          <p:cNvSpPr/>
          <p:nvPr userDrawn="1"/>
        </p:nvSpPr>
        <p:spPr>
          <a:xfrm>
            <a:off x="5174459" y="0"/>
            <a:ext cx="457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3" name="Графический объект 2">
            <a:extLst>
              <a:ext uri="{FF2B5EF4-FFF2-40B4-BE49-F238E27FC236}">
                <a16:creationId xmlns:a16="http://schemas.microsoft.com/office/drawing/2014/main" id="{02CB607F-27CE-D613-F812-E70C738FA0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723"/>
          <a:stretch/>
        </p:blipFill>
        <p:spPr>
          <a:xfrm>
            <a:off x="9959711" y="738051"/>
            <a:ext cx="2232289" cy="5381892"/>
          </a:xfrm>
          <a:prstGeom prst="rect">
            <a:avLst/>
          </a:prstGeom>
        </p:spPr>
      </p:pic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A689F60-3D32-FD74-24A9-266643081E85}"/>
              </a:ext>
            </a:extLst>
          </p:cNvPr>
          <p:cNvCxnSpPr>
            <a:cxnSpLocks/>
          </p:cNvCxnSpPr>
          <p:nvPr userDrawn="1"/>
        </p:nvCxnSpPr>
        <p:spPr>
          <a:xfrm>
            <a:off x="6189979" y="2649682"/>
            <a:ext cx="332598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 descr="Изображение, содержащее текст&#10;&#10;Описание сгенерировано автоматически">
            <a:extLst>
              <a:ext uri="{FF2B5EF4-FFF2-40B4-BE49-F238E27FC236}">
                <a16:creationId xmlns:a16="http://schemas.microsoft.com/office/drawing/2014/main" id="{B827D708-B036-EE04-B213-EC3EAAE0681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9920" y="2509197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мещающая рамка рисунка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912" y="2185416"/>
            <a:ext cx="9052560" cy="2487168"/>
          </a:xfrm>
          <a:noFill/>
        </p:spPr>
        <p:txBody>
          <a:bodyPr rtlCol="0"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Графический объект 5">
            <a:extLst>
              <a:ext uri="{FF2B5EF4-FFF2-40B4-BE49-F238E27FC236}">
                <a16:creationId xmlns:a16="http://schemas.microsoft.com/office/drawing/2014/main" id="{7F691F67-3A33-EA2C-967A-86934DA1D4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401" b="24659"/>
          <a:stretch/>
        </p:blipFill>
        <p:spPr>
          <a:xfrm>
            <a:off x="5856445" y="726334"/>
            <a:ext cx="1898043" cy="540533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2350008"/>
          </a:xfrm>
        </p:spPr>
        <p:txBody>
          <a:bodyPr rtlCol="0" anchor="b">
            <a:normAutofit/>
          </a:bodyPr>
          <a:lstStyle>
            <a:lvl1pPr algn="ctr">
              <a:defRPr sz="44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F6B0D1AB-E9D6-841F-7178-F60F07AF3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3931920"/>
            <a:ext cx="6419088" cy="1389888"/>
          </a:xfrm>
        </p:spPr>
        <p:txBody>
          <a:bodyPr rtlCol="0"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/>
              <a:t>Образец подзаголовка</a:t>
            </a:r>
            <a:endParaRPr lang="ru"/>
          </a:p>
        </p:txBody>
      </p:sp>
      <p:sp>
        <p:nvSpPr>
          <p:cNvPr id="7" name="Замещающая рамка рисунка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54488" y="0"/>
            <a:ext cx="4434464" cy="6858000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DB41B1E5-0891-6540-C6C6-2E4CF929E2D5}"/>
              </a:ext>
            </a:extLst>
          </p:cNvPr>
          <p:cNvCxnSpPr>
            <a:cxnSpLocks/>
          </p:cNvCxnSpPr>
          <p:nvPr userDrawn="1"/>
        </p:nvCxnSpPr>
        <p:spPr>
          <a:xfrm>
            <a:off x="1679972" y="3432325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Рисунок 11" descr="Изображение, содержащее текст&#10;&#10;Описание сгенерировано автоматически">
            <a:extLst>
              <a:ext uri="{FF2B5EF4-FFF2-40B4-BE49-F238E27FC236}">
                <a16:creationId xmlns:a16="http://schemas.microsoft.com/office/drawing/2014/main" id="{2CA6CDBD-54C9-2154-A4D6-F432B3CF27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3169" y="3291840"/>
            <a:ext cx="972078" cy="285381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7541814-983F-1B1C-1D5D-EBAC0D9BEB4C}"/>
              </a:ext>
            </a:extLst>
          </p:cNvPr>
          <p:cNvSpPr/>
          <p:nvPr userDrawn="1"/>
        </p:nvSpPr>
        <p:spPr>
          <a:xfrm>
            <a:off x="7711438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7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id="{7D338C08-B5A9-DA78-1FE4-12BEFEB61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136" t="6121"/>
          <a:stretch/>
        </p:blipFill>
        <p:spPr>
          <a:xfrm rot="16200000" flipH="1" flipV="1">
            <a:off x="7528785" y="-1437953"/>
            <a:ext cx="3225262" cy="6101168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0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Графический объект 6">
            <a:extLst>
              <a:ext uri="{FF2B5EF4-FFF2-40B4-BE49-F238E27FC236}">
                <a16:creationId xmlns:a16="http://schemas.microsoft.com/office/drawing/2014/main" id="{230C4EDD-E959-BB97-7574-864A6EDFD3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602251" y="4944272"/>
            <a:ext cx="3848748" cy="191372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408176"/>
            <a:ext cx="3392424" cy="4014216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1536192"/>
            <a:ext cx="5696712" cy="3758184"/>
          </a:xfrm>
        </p:spPr>
        <p:txBody>
          <a:bodyPr rtlCol="0"/>
          <a:lstStyle>
            <a:lvl1pPr>
              <a:spcAft>
                <a:spcPts val="600"/>
              </a:spcAft>
              <a:buClr>
                <a:schemeClr val="accent2"/>
              </a:buClr>
              <a:defRPr sz="22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4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724144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77048F4-9454-D035-3356-DD623DFCEE42}"/>
              </a:ext>
            </a:extLst>
          </p:cNvPr>
          <p:cNvSpPr/>
          <p:nvPr userDrawn="1"/>
        </p:nvSpPr>
        <p:spPr>
          <a:xfrm rot="5400000">
            <a:off x="1361771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42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 с подзаголовко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6"/>
            <a:ext cx="9144000" cy="1508760"/>
          </a:xfrm>
          <a:noFill/>
        </p:spPr>
        <p:txBody>
          <a:bodyPr rtlCol="0"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  <a:noFill/>
        </p:spPr>
        <p:txBody>
          <a:bodyPr rtlCol="0" anchor="t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/>
              <a:t>Образец подзаголовка</a:t>
            </a:r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9391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элемента содержимого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9" name="Местозаполнитель содержимого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3694176"/>
          </a:xfrm>
        </p:spPr>
        <p:txBody>
          <a:bodyPr rtlCol="0"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11" name="Объект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4264" y="2523744"/>
            <a:ext cx="4864608" cy="3694176"/>
          </a:xfrm>
        </p:spPr>
        <p:txBody>
          <a:bodyPr rtlCol="0"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Местозаполнитель номера слайда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9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элемента содержимог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B7F52C37-6A33-FD57-31EC-516F581DF1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420" b="36176"/>
          <a:stretch/>
        </p:blipFill>
        <p:spPr>
          <a:xfrm>
            <a:off x="0" y="2510651"/>
            <a:ext cx="2841744" cy="434735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7397496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9" name="Местозаполнитель содержимого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 rtlCol="0">
            <a:noAutofit/>
          </a:bodyPr>
          <a:lstStyle>
            <a:lvl1pPr marL="457200" indent="-457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914400" indent="-457200">
              <a:buClr>
                <a:schemeClr val="accent2"/>
              </a:buClr>
              <a:buFont typeface="+mj-lt"/>
              <a:buAutoNum type="alphaLcPeriod"/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371600" indent="-457200">
              <a:buClr>
                <a:schemeClr val="accent2"/>
              </a:buClr>
              <a:buFont typeface="+mj-lt"/>
              <a:buAutoNum type="romanLcPeriod"/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714500" indent="-342900">
              <a:buClr>
                <a:schemeClr val="accent2"/>
              </a:buClr>
              <a:buFont typeface="+mj-lt"/>
              <a:buAutoNum type="arabicParenR"/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171700" indent="-342900">
              <a:buClr>
                <a:schemeClr val="accent2"/>
              </a:buClr>
              <a:buFont typeface="+mj-lt"/>
              <a:buAutoNum type="alphaLcParenR"/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10" name="Объект 8">
            <a:extLst>
              <a:ext uri="{FF2B5EF4-FFF2-40B4-BE49-F238E27FC236}">
                <a16:creationId xmlns:a16="http://schemas.microsoft.com/office/drawing/2014/main" id="{EC526101-2775-A309-0B4A-DB278C3974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2688" y="2697480"/>
            <a:ext cx="5276088" cy="3483864"/>
          </a:xfrm>
        </p:spPr>
        <p:txBody>
          <a:bodyPr rtlCol="0"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Местозаполнитель номера слайда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45719EF3-43BC-5F74-7396-273F72ED3C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8001534" y="4944272"/>
            <a:ext cx="3848748" cy="1913728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37D205C-32E5-5A54-8D89-CB56198B06E5}"/>
              </a:ext>
            </a:extLst>
          </p:cNvPr>
          <p:cNvSpPr/>
          <p:nvPr userDrawn="1"/>
        </p:nvSpPr>
        <p:spPr>
          <a:xfrm rot="5400000">
            <a:off x="3949200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182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с изображ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516D97AE-EB24-C3DA-21A1-E8EE4631AC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118" r="47395" b="22709"/>
          <a:stretch/>
        </p:blipFill>
        <p:spPr>
          <a:xfrm flipH="1">
            <a:off x="4448831" y="805912"/>
            <a:ext cx="1464735" cy="4961437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CBF43B9-3946-05E6-521F-EE4BB59B49D0}"/>
              </a:ext>
            </a:extLst>
          </p:cNvPr>
          <p:cNvSpPr/>
          <p:nvPr userDrawn="1"/>
        </p:nvSpPr>
        <p:spPr>
          <a:xfrm>
            <a:off x="4434840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14DEF57-E0D6-D7CA-5D3C-FC97EAB0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1929384"/>
          </a:xfrm>
        </p:spPr>
        <p:txBody>
          <a:bodyPr rtlCol="0" anchor="b">
            <a:normAutofit/>
          </a:bodyPr>
          <a:lstStyle>
            <a:lvl1pPr algn="ctr">
              <a:defRPr sz="4400"/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8" name="Замещающая рамка рисунка 6">
            <a:extLst>
              <a:ext uri="{FF2B5EF4-FFF2-40B4-BE49-F238E27FC236}">
                <a16:creationId xmlns:a16="http://schemas.microsoft.com/office/drawing/2014/main" id="{930B4666-31C5-1F2B-27D9-2A9F6EC970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34464" cy="6858000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3328416"/>
            <a:ext cx="6419088" cy="2441448"/>
          </a:xfrm>
        </p:spPr>
        <p:txBody>
          <a:bodyPr rtlCol="0"/>
          <a:lstStyle>
            <a:lvl1pPr marL="0" indent="0" algn="ctr">
              <a:lnSpc>
                <a:spcPct val="90000"/>
              </a:lnSpc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algn="ctr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2pPr>
            <a:lvl3pPr algn="ctr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algn="ctr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algn="ctr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93792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89EEBF9-800C-88AE-FE83-60B5F47AFC14}"/>
              </a:ext>
            </a:extLst>
          </p:cNvPr>
          <p:cNvCxnSpPr>
            <a:cxnSpLocks/>
          </p:cNvCxnSpPr>
          <p:nvPr userDrawn="1"/>
        </p:nvCxnSpPr>
        <p:spPr>
          <a:xfrm>
            <a:off x="6174481" y="2843389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Изображение 13" descr="Изображение, содержащее текст&#10;&#10;Описание сгенерировано автоматически">
            <a:extLst>
              <a:ext uri="{FF2B5EF4-FFF2-40B4-BE49-F238E27FC236}">
                <a16:creationId xmlns:a16="http://schemas.microsoft.com/office/drawing/2014/main" id="{301D77B6-9ED1-094C-66A3-7D5AB0CDEA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4042" y="2702904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4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элемента содержимог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9" name="Местозаполнитель содержимого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770632"/>
            <a:ext cx="2487168" cy="3502152"/>
          </a:xfrm>
        </p:spPr>
        <p:txBody>
          <a:bodyPr lIns="91440" rIns="91440" rtlCol="0"/>
          <a:lstStyle>
            <a:lvl1pPr marL="0" indent="0"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11" name="Объект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85616" y="2770632"/>
            <a:ext cx="7571232" cy="3392424"/>
          </a:xfrm>
        </p:spPr>
        <p:txBody>
          <a:bodyPr rtlCol="0"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Местозаполнитель номера слайда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990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элемента содержимого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9" name="Местозаполнитель содержимого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 lIns="91440" rIns="91440" rtlCol="0"/>
          <a:lstStyle>
            <a:lvl1pPr marL="228600" indent="-228600"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685800">
              <a:spcBef>
                <a:spcPts val="5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1430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6002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0574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11" name="Объект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 rtlCol="0"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Местозаполнитель номера слайда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id="{1EB1C5A3-22FF-382D-3801-B6D9C4AC53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52051"/>
          <a:stretch/>
        </p:blipFill>
        <p:spPr>
          <a:xfrm>
            <a:off x="4629335" y="1815780"/>
            <a:ext cx="5586493" cy="504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67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11" name="Местозаполнитель содержимого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770632"/>
            <a:ext cx="10515600" cy="3392424"/>
          </a:xfrm>
        </p:spPr>
        <p:txBody>
          <a:bodyPr rtlCol="0"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Местозаполнитель номера слайда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999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мещающая рамка рисунка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  <a:noFill/>
        </p:spPr>
        <p:txBody>
          <a:bodyPr rtlCol="0"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"/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  <a:noFill/>
        </p:spPr>
        <p:txBody>
          <a:bodyPr rtlCol="0" anchor="t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06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6140" y="6356350"/>
            <a:ext cx="784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pPr rtl="0"/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76" r:id="rId4"/>
    <p:sldLayoutId id="2147483678" r:id="rId5"/>
    <p:sldLayoutId id="2147483684" r:id="rId6"/>
    <p:sldLayoutId id="2147483677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Замещающая рамка рисунка 4">
            <a:extLst>
              <a:ext uri="{FF2B5EF4-FFF2-40B4-BE49-F238E27FC236}">
                <a16:creationId xmlns:a16="http://schemas.microsoft.com/office/drawing/2014/main" id="{2E09DD34-43D4-3713-535D-7E9D95D3F4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F9772E4-10E9-13DE-8AE8-35BBB9DD1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</p:spPr>
        <p:txBody>
          <a:bodyPr rtlCol="0"/>
          <a:lstStyle/>
          <a:p>
            <a:r>
              <a:rPr lang="ru-RU" sz="4000" dirty="0"/>
              <a:t>Проектирование и разработка интернет-магазина</a:t>
            </a:r>
            <a:r>
              <a:rPr lang="en-US" sz="4000" dirty="0"/>
              <a:t> </a:t>
            </a:r>
            <a:r>
              <a:rPr lang="ru-RU" sz="4000" dirty="0"/>
              <a:t>музыкального оборудования</a:t>
            </a:r>
            <a:endParaRPr lang="ru" sz="4000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F7C09E8F-C241-2F75-70EA-32EC69551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</p:spPr>
        <p:txBody>
          <a:bodyPr rtlCol="0"/>
          <a:lstStyle/>
          <a:p>
            <a:pPr rtl="0"/>
            <a:r>
              <a:rPr lang="ru-RU" dirty="0"/>
              <a:t>Жаркова Василиса ИС-22/9</a:t>
            </a:r>
            <a:endParaRPr lang="ru" dirty="0"/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318DF20-A4C4-3800-A69E-4E11F5A11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15117" y="3822700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абличка 12">
            <a:extLst>
              <a:ext uri="{FF2B5EF4-FFF2-40B4-BE49-F238E27FC236}">
                <a16:creationId xmlns:a16="http://schemas.microsoft.com/office/drawing/2014/main" id="{AC9EB422-5602-36FF-E543-5B0C70E56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4867" y="1269576"/>
            <a:ext cx="6781800" cy="4343824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14" name="Изображение 13">
            <a:extLst>
              <a:ext uri="{FF2B5EF4-FFF2-40B4-BE49-F238E27FC236}">
                <a16:creationId xmlns:a16="http://schemas.microsoft.com/office/drawing/2014/main" id="{A053B63A-99EB-DBC1-DE80-E5E5214E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9728" y="3681876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593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rtlCol="0" anchor="b">
            <a:normAutofit/>
          </a:bodyPr>
          <a:lstStyle/>
          <a:p>
            <a:pPr rtl="0"/>
            <a:r>
              <a:rPr lang="ru-RU" dirty="0"/>
              <a:t>Содержание:</a:t>
            </a:r>
            <a:endParaRPr lang="ru" dirty="0"/>
          </a:p>
        </p:txBody>
      </p:sp>
      <p:pic>
        <p:nvPicPr>
          <p:cNvPr id="12" name="Замещающая рамка рисунка 11">
            <a:extLst>
              <a:ext uri="{FF2B5EF4-FFF2-40B4-BE49-F238E27FC236}">
                <a16:creationId xmlns:a16="http://schemas.microsoft.com/office/drawing/2014/main" id="{638025BA-3E49-3EFD-417E-955B4B95B2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1" y="0"/>
            <a:ext cx="5174458" cy="6858000"/>
          </a:xfr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ru" dirty="0"/>
              <a:t>Введение</a:t>
            </a:r>
          </a:p>
          <a:p>
            <a:pPr rtl="0"/>
            <a:r>
              <a:rPr lang="ru" dirty="0"/>
              <a:t>Представление ПО</a:t>
            </a:r>
          </a:p>
          <a:p>
            <a:r>
              <a:rPr lang="ru-RU" dirty="0"/>
              <a:t>Сравнительный анализ различного программного обеспечения (плюсы и минусы каждого)</a:t>
            </a:r>
            <a:r>
              <a:rPr lang="ru" dirty="0"/>
              <a:t> </a:t>
            </a:r>
          </a:p>
          <a:p>
            <a:pPr rtl="0"/>
            <a:r>
              <a:rPr lang="ru" dirty="0"/>
              <a:t>Вывод</a:t>
            </a:r>
          </a:p>
          <a:p>
            <a:pPr rtl="0"/>
            <a:endParaRPr lang="en-US" dirty="0"/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id="{0E1BC27E-ED02-E738-1B43-E66F422BD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Местозаполнитель номера слайда 4">
            <a:extLst>
              <a:ext uri="{FF2B5EF4-FFF2-40B4-BE49-F238E27FC236}">
                <a16:creationId xmlns:a16="http://schemas.microsoft.com/office/drawing/2014/main" id="{E902A7C2-1D63-EFD6-869B-2F167F96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5998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Замещающая рамка рисунка 4">
            <a:extLst>
              <a:ext uri="{FF2B5EF4-FFF2-40B4-BE49-F238E27FC236}">
                <a16:creationId xmlns:a16="http://schemas.microsoft.com/office/drawing/2014/main" id="{D34D75C6-A35A-52D3-B03F-61494B858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-1400" y="0"/>
            <a:ext cx="12192000" cy="6858000"/>
          </a:xfrm>
          <a:solidFill>
            <a:schemeClr val="bg1">
              <a:lumMod val="95000"/>
            </a:schemeClr>
          </a:solidFill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9C3427B2-C457-FC4C-BA04-44EF586F3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026" y="2226364"/>
            <a:ext cx="8951446" cy="2446219"/>
          </a:xfrm>
        </p:spPr>
        <p:txBody>
          <a:bodyPr rtlCol="0"/>
          <a:lstStyle/>
          <a:p>
            <a:pPr rtl="0"/>
            <a:r>
              <a:rPr lang="ru" dirty="0"/>
              <a:t>Введение:Программное обеспечение</a:t>
            </a:r>
            <a:endParaRPr lang="en-US" dirty="0"/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id="{009C8D8B-2E15-875B-08A8-28C5524EF69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4114800" cy="365125"/>
          </a:xfrm>
        </p:spPr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94F408-30BE-5DC2-806D-A217DB0281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356350"/>
            <a:ext cx="784225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Табличка 10">
            <a:extLst>
              <a:ext uri="{FF2B5EF4-FFF2-40B4-BE49-F238E27FC236}">
                <a16:creationId xmlns:a16="http://schemas.microsoft.com/office/drawing/2014/main" id="{95E724B3-E95F-E150-E7F9-1C3F634EF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2854" y="1782305"/>
            <a:ext cx="9546956" cy="3270142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BFEC193-4F90-6CAE-6259-21C8B6A84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9380" y="4925256"/>
            <a:ext cx="972078" cy="28538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F119B25-42CB-340B-ACB4-22178DF12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5608561" y="1624116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481746"/>
      </p:ext>
    </p:extLst>
  </p:cSld>
  <p:clrMapOvr>
    <a:masterClrMapping/>
  </p:clrMapOvr>
  <p:transition spd="slow"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23" y="1408176"/>
            <a:ext cx="4068416" cy="4014216"/>
          </a:xfrm>
          <a:noFill/>
        </p:spPr>
        <p:txBody>
          <a:bodyPr rtlCol="0">
            <a:normAutofit/>
          </a:bodyPr>
          <a:lstStyle/>
          <a:p>
            <a:pPr rtl="0"/>
            <a:r>
              <a:rPr lang="ru" dirty="0"/>
              <a:t>Программное Обеспечение </a:t>
            </a:r>
          </a:p>
        </p:txBody>
      </p:sp>
      <p:sp>
        <p:nvSpPr>
          <p:cNvPr id="3" name="Местозаполнитель содержимого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1536192"/>
            <a:ext cx="5696712" cy="3758184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ru-RU" sz="2000" dirty="0"/>
              <a:t>Программное обеспечение (ПО) — это совокупность программ, инструкций и данных, которые обеспечивают работу компьютера и выполнение им определённых задач.</a:t>
            </a:r>
            <a:endParaRPr lang="en-US" sz="2000" dirty="0"/>
          </a:p>
          <a:p>
            <a:pPr marL="0" indent="0">
              <a:buNone/>
            </a:pPr>
            <a:r>
              <a:rPr lang="ru-RU" sz="2000" dirty="0"/>
              <a:t>Для проектирования и разработки интернет-магазина нам нужны следующие ПО:</a:t>
            </a:r>
          </a:p>
          <a:p>
            <a:r>
              <a:rPr lang="ru-RU" sz="2000" dirty="0"/>
              <a:t>Системное</a:t>
            </a:r>
          </a:p>
          <a:p>
            <a:r>
              <a:rPr lang="ru-RU" sz="2000" dirty="0"/>
              <a:t>Инструментальное или Прикладное</a:t>
            </a:r>
          </a:p>
          <a:p>
            <a:r>
              <a:rPr lang="ru-RU" sz="2000" dirty="0"/>
              <a:t>Вспомогательное</a:t>
            </a:r>
            <a:endParaRPr lang="ru" sz="2000" dirty="0"/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id="{2B8D929C-9009-957F-5897-9AA1649E6C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398EC13-CC66-14BE-C305-D90EB840C4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424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Замещающая рамка рисунка 4">
            <a:extLst>
              <a:ext uri="{FF2B5EF4-FFF2-40B4-BE49-F238E27FC236}">
                <a16:creationId xmlns:a16="http://schemas.microsoft.com/office/drawing/2014/main" id="{82C0F469-9EA6-0942-67ED-8D4851C74BF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F951822-544C-11FC-36D3-F53CE376B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6"/>
            <a:ext cx="9144000" cy="1508760"/>
          </a:xfrm>
        </p:spPr>
        <p:txBody>
          <a:bodyPr rtlCol="0"/>
          <a:lstStyle/>
          <a:p>
            <a:pPr rtl="0"/>
            <a:r>
              <a:rPr lang="ru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Представление ОП</a:t>
            </a:r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D289A6C7-C300-4AAC-DEAE-687BBDA30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</p:spPr>
        <p:txBody>
          <a:bodyPr rtlCol="0">
            <a:normAutofit/>
          </a:bodyPr>
          <a:lstStyle/>
          <a:p>
            <a:pPr rtl="0"/>
            <a:r>
              <a:rPr lang="ru" sz="2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Краткое описание каждой ПО</a:t>
            </a:r>
          </a:p>
        </p:txBody>
      </p:sp>
      <p:sp>
        <p:nvSpPr>
          <p:cNvPr id="12" name="Табличка 11">
            <a:extLst>
              <a:ext uri="{FF2B5EF4-FFF2-40B4-BE49-F238E27FC236}">
                <a16:creationId xmlns:a16="http://schemas.microsoft.com/office/drawing/2014/main" id="{F6C1C551-67AC-029A-A3FE-5521A1CD6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2854" y="1782305"/>
            <a:ext cx="9546956" cy="3270142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27F1579-738B-D9DF-6A9B-98AB5F50D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33949" y="3605726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Изображение 13">
            <a:extLst>
              <a:ext uri="{FF2B5EF4-FFF2-40B4-BE49-F238E27FC236}">
                <a16:creationId xmlns:a16="http://schemas.microsoft.com/office/drawing/2014/main" id="{E96736DE-5AE2-4B04-69F4-474224408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560" y="3464902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177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2B8270AC-601F-D537-3460-3FE09CC6A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 rtlCol="0"/>
          <a:lstStyle/>
          <a:p>
            <a:pPr rtl="0"/>
            <a:r>
              <a:rPr lang="ru" dirty="0"/>
              <a:t>ПО и их предназначение: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4593D07-3857-8A04-606E-258D1E9908D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4105656"/>
          </a:xfrm>
        </p:spPr>
        <p:txBody>
          <a:bodyPr rtlCol="0">
            <a:normAutofit/>
          </a:bodyPr>
          <a:lstStyle/>
          <a:p>
            <a:pPr lvl="1"/>
            <a:r>
              <a:rPr lang="ru-RU" dirty="0"/>
              <a:t>Системное - </a:t>
            </a:r>
            <a:r>
              <a:rPr lang="en-US" dirty="0"/>
              <a:t>“</a:t>
            </a:r>
            <a:r>
              <a:rPr lang="ru-RU" dirty="0"/>
              <a:t>фундамент</a:t>
            </a:r>
            <a:r>
              <a:rPr lang="en-US" dirty="0"/>
              <a:t>”,</a:t>
            </a:r>
            <a:r>
              <a:rPr lang="ru-RU" dirty="0"/>
              <a:t> без которого разработка невозможна</a:t>
            </a:r>
            <a:r>
              <a:rPr lang="en-US" dirty="0"/>
              <a:t>. </a:t>
            </a:r>
            <a:endParaRPr lang="ru-RU" dirty="0"/>
          </a:p>
          <a:p>
            <a:pPr lvl="1"/>
            <a:r>
              <a:rPr lang="ru" dirty="0"/>
              <a:t>Инструментальное - проектирование и</a:t>
            </a:r>
            <a:r>
              <a:rPr lang="ru-RU" dirty="0"/>
              <a:t> разработка</a:t>
            </a:r>
            <a:endParaRPr lang="en-US" dirty="0"/>
          </a:p>
          <a:p>
            <a:pPr lvl="1"/>
            <a:r>
              <a:rPr lang="ru-RU" dirty="0"/>
              <a:t>Прикладное - готовые платформы и движки</a:t>
            </a:r>
            <a:endParaRPr lang="en-US" dirty="0"/>
          </a:p>
          <a:p>
            <a:pPr lvl="1"/>
            <a:r>
              <a:rPr lang="ru-RU" dirty="0"/>
              <a:t>Вспомогательное – инструменты аналитики и тестирования</a:t>
            </a:r>
            <a:r>
              <a:rPr lang="en-US" dirty="0"/>
              <a:t>,</a:t>
            </a:r>
            <a:r>
              <a:rPr lang="ru-RU" dirty="0"/>
              <a:t> инструменты мониторинга</a:t>
            </a:r>
            <a:r>
              <a:rPr lang="en-US" dirty="0"/>
              <a:t>,</a:t>
            </a:r>
            <a:r>
              <a:rPr lang="ru-RU" dirty="0"/>
              <a:t> системы </a:t>
            </a:r>
            <a:r>
              <a:rPr lang="en-US" dirty="0"/>
              <a:t>CI/CD</a:t>
            </a:r>
            <a:r>
              <a:rPr lang="ru-RU" dirty="0"/>
              <a:t> </a:t>
            </a:r>
            <a:endParaRPr lang="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D5BB6B2-ED6A-BB7C-2FF7-FB65908901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4264" y="2523744"/>
            <a:ext cx="4864608" cy="3694176"/>
          </a:xfrm>
        </p:spPr>
        <p:txBody>
          <a:bodyPr rtlCol="0"/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dirty="0"/>
              <a:t>ОС</a:t>
            </a:r>
            <a:r>
              <a:rPr lang="en-US" dirty="0"/>
              <a:t>, </a:t>
            </a:r>
            <a:r>
              <a:rPr lang="ru-RU" dirty="0"/>
              <a:t>СУБД</a:t>
            </a:r>
            <a:r>
              <a:rPr lang="en-US" dirty="0"/>
              <a:t>, </a:t>
            </a:r>
            <a:r>
              <a:rPr lang="ru-RU" dirty="0"/>
              <a:t>Серверное ПО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dirty="0"/>
              <a:t>IDE </a:t>
            </a:r>
            <a:r>
              <a:rPr lang="ru-RU" dirty="0"/>
              <a:t>и редакторы кода</a:t>
            </a:r>
            <a:r>
              <a:rPr lang="en-US" dirty="0"/>
              <a:t>,</a:t>
            </a:r>
            <a:r>
              <a:rPr lang="ru-RU" dirty="0"/>
              <a:t> системы контроля версий</a:t>
            </a:r>
            <a:r>
              <a:rPr lang="en-US" dirty="0"/>
              <a:t>,</a:t>
            </a:r>
            <a:r>
              <a:rPr lang="ru-RU" dirty="0"/>
              <a:t> Фреймворки</a:t>
            </a:r>
            <a:r>
              <a:rPr lang="en-US" dirty="0"/>
              <a:t>,</a:t>
            </a:r>
            <a:r>
              <a:rPr lang="ru-RU" dirty="0"/>
              <a:t> системы контеризации</a:t>
            </a:r>
            <a:r>
              <a:rPr lang="en-US" dirty="0"/>
              <a:t>,</a:t>
            </a:r>
            <a:r>
              <a:rPr lang="ru-RU" dirty="0"/>
              <a:t> средства проектирования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dirty="0"/>
              <a:t>Shopify, Magento, OpenCart </a:t>
            </a:r>
            <a:r>
              <a:rPr lang="ru-RU" dirty="0"/>
              <a:t>и </a:t>
            </a:r>
            <a:r>
              <a:rPr lang="ru-RU" dirty="0" err="1"/>
              <a:t>др</a:t>
            </a:r>
            <a:r>
              <a:rPr lang="en-US" dirty="0"/>
              <a:t>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dirty="0"/>
              <a:t>Google Analytics, Postman, GitHub Actions, Jenkins, ELK Stack</a:t>
            </a:r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8D66D170-AC52-72BE-0CB6-F9F504A3D2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 rtlCol="0"/>
          <a:lstStyle/>
          <a:p>
            <a:pPr rtl="0"/>
            <a:endParaRPr lang="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46466F-9F24-C34E-BBA6-2CB9430552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343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2DEF4-98CC-1AF0-6065-9E356A338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Замещающая рамка рисунка 4">
            <a:extLst>
              <a:ext uri="{FF2B5EF4-FFF2-40B4-BE49-F238E27FC236}">
                <a16:creationId xmlns:a16="http://schemas.microsoft.com/office/drawing/2014/main" id="{BF102C93-F417-2E4C-1EDF-D73F540DBA0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-1401" y="0"/>
            <a:ext cx="12192000" cy="6858000"/>
          </a:xfrm>
          <a:solidFill>
            <a:schemeClr val="bg1">
              <a:lumMod val="95000"/>
            </a:schemeClr>
          </a:solidFill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7C89A49-B1F9-73BC-C9A9-440608EFF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535" y="1703101"/>
            <a:ext cx="9144000" cy="1508760"/>
          </a:xfrm>
        </p:spPr>
        <p:txBody>
          <a:bodyPr rtlCol="0"/>
          <a:lstStyle/>
          <a:p>
            <a:r>
              <a:rPr lang="ru-RU" dirty="0">
                <a:solidFill>
                  <a:schemeClr val="tx1"/>
                </a:solidFill>
              </a:rPr>
              <a:t>Сравнительный анализ различного программного обеспечения</a:t>
            </a:r>
            <a:endParaRPr lang="ru" dirty="0">
              <a:solidFill>
                <a:schemeClr val="tx1"/>
              </a:solidFill>
            </a:endParaRPr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7FCFA80C-3AE6-5902-1582-8E09454FE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</p:spPr>
        <p:txBody>
          <a:bodyPr rtlCol="0"/>
          <a:lstStyle/>
          <a:p>
            <a:r>
              <a:rPr lang="ru-RU" dirty="0">
                <a:solidFill>
                  <a:schemeClr val="tx1"/>
                </a:solidFill>
              </a:rPr>
              <a:t>плюсы и минусы каждого</a:t>
            </a:r>
            <a:endParaRPr lang="ru" dirty="0">
              <a:solidFill>
                <a:schemeClr val="tx1"/>
              </a:solidFill>
            </a:endParaRPr>
          </a:p>
        </p:txBody>
      </p:sp>
      <p:sp>
        <p:nvSpPr>
          <p:cNvPr id="12" name="Табличка 11">
            <a:extLst>
              <a:ext uri="{FF2B5EF4-FFF2-40B4-BE49-F238E27FC236}">
                <a16:creationId xmlns:a16="http://schemas.microsoft.com/office/drawing/2014/main" id="{B9640329-24E0-C3D1-C998-030DEED5B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21121" y="1396165"/>
            <a:ext cx="9546956" cy="3270142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C8D05665-A8AC-726A-588F-83D0AC52A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33949" y="3605726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Изображение 13">
            <a:extLst>
              <a:ext uri="{FF2B5EF4-FFF2-40B4-BE49-F238E27FC236}">
                <a16:creationId xmlns:a16="http://schemas.microsoft.com/office/drawing/2014/main" id="{37D3E5CD-75D5-47D0-5CC3-2372A3C06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560" y="3464902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88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FE0DBD-0B2D-6832-A30D-1A703185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Инструментальное (проектирование)</a:t>
            </a:r>
            <a:endParaRPr lang="en-US" dirty="0"/>
          </a:p>
        </p:txBody>
      </p:sp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655A5A04-AC5B-B4F0-7404-47D8B3C743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ru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F5138A-B125-D716-1DF1-A12D0FBDFA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8</a:t>
            </a:fld>
            <a:endParaRPr lang="en-US" dirty="0"/>
          </a:p>
        </p:txBody>
      </p:sp>
      <p:graphicFrame>
        <p:nvGraphicFramePr>
          <p:cNvPr id="6" name="Местозаполнитель таблицы 3">
            <a:extLst>
              <a:ext uri="{FF2B5EF4-FFF2-40B4-BE49-F238E27FC236}">
                <a16:creationId xmlns:a16="http://schemas.microsoft.com/office/drawing/2014/main" id="{FCA28DE6-C101-C79F-9EA4-ADCD87209AD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037900692"/>
              </p:ext>
            </p:extLst>
          </p:nvPr>
        </p:nvGraphicFramePr>
        <p:xfrm>
          <a:off x="987149" y="2131499"/>
          <a:ext cx="10515600" cy="44979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1855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3338983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056921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1837841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565981"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ПО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Назначение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Достоинства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Недостатки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Figma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dirty="0"/>
                        <a:t>Проектирование интерфейсов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прототипирование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Онлайн-доступ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совместная работа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простота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Нет офлайн-версии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Miro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Доски для мозговых штурмов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схем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Удобно для совместной работы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интеграции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Не подходит для точного</a:t>
                      </a:r>
                      <a:r>
                        <a:rPr lang="en-US" dirty="0"/>
                        <a:t> UI-</a:t>
                      </a:r>
                      <a:r>
                        <a:rPr lang="ru-RU" dirty="0"/>
                        <a:t>дизайна</a:t>
                      </a:r>
                      <a:endParaRPr lang="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Draw.io (diagrams.net)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Схемы</a:t>
                      </a:r>
                      <a:r>
                        <a:rPr lang="ru-RU" dirty="0"/>
                        <a:t> архитектуры</a:t>
                      </a:r>
                      <a:r>
                        <a:rPr lang="en-US" dirty="0"/>
                        <a:t>, UML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dirty="0"/>
                        <a:t>Бесплатно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просто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Не так удобно для прототипов интерфейсов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Adobe XD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UI/UX - </a:t>
                      </a:r>
                      <a:r>
                        <a:rPr lang="ru-RU" dirty="0"/>
                        <a:t>дизайн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Богатый функционал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совместимость с </a:t>
                      </a:r>
                      <a:r>
                        <a:rPr lang="en-US" dirty="0"/>
                        <a:t>Adobe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dirty="0"/>
                        <a:t>Платное ПО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сложное в освоении</a:t>
                      </a:r>
                      <a:endParaRPr lang="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775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B9C00-0726-41EE-0EFF-8CFE68AB2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FF539D-2296-4FE0-8B20-C547DF8EA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Инструментальное (разработка)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BF9073-BB6D-3B26-135B-12F0B04110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9</a:t>
            </a:fld>
            <a:endParaRPr lang="en-US" dirty="0"/>
          </a:p>
        </p:txBody>
      </p:sp>
      <p:graphicFrame>
        <p:nvGraphicFramePr>
          <p:cNvPr id="6" name="Местозаполнитель таблицы 3">
            <a:extLst>
              <a:ext uri="{FF2B5EF4-FFF2-40B4-BE49-F238E27FC236}">
                <a16:creationId xmlns:a16="http://schemas.microsoft.com/office/drawing/2014/main" id="{570BD291-0E03-4BD9-8067-49073E2F4EC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20339621"/>
              </p:ext>
            </p:extLst>
          </p:nvPr>
        </p:nvGraphicFramePr>
        <p:xfrm>
          <a:off x="0" y="1737361"/>
          <a:ext cx="1219199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5047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3871284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384837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130831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356008"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ПО/Фреймворк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Назначение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Достоинства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Недостатки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890020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React + Next.js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dirty="0"/>
                        <a:t>Фронтенд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SSR/SPA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dirty="0"/>
                        <a:t>Гибкость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скорость работы</a:t>
                      </a:r>
                      <a:r>
                        <a:rPr lang="en-US" dirty="0"/>
                        <a:t>, SEO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dirty="0"/>
                        <a:t>Требует опыта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экосистема фрагментирована</a:t>
                      </a:r>
                      <a:endParaRPr lang="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623014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Vue + Nuxt.js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dirty="0"/>
                        <a:t>Фронтенд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Простота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документация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Меньше пакетов чем у </a:t>
                      </a:r>
                      <a:r>
                        <a:rPr lang="en-US" dirty="0"/>
                        <a:t>React</a:t>
                      </a:r>
                      <a:endParaRPr lang="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356008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Angular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Фронтенд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dirty="0"/>
                        <a:t>Строгая структура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Сложен в обучении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623014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Node.js + Express/</a:t>
                      </a:r>
                      <a:r>
                        <a:rPr lang="en-US" dirty="0" err="1"/>
                        <a:t>NestJS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Бэкенд (</a:t>
                      </a:r>
                      <a:r>
                        <a:rPr lang="en-US" dirty="0"/>
                        <a:t>API,</a:t>
                      </a:r>
                      <a:r>
                        <a:rPr lang="ru-RU" dirty="0"/>
                        <a:t> логика)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Высокая скорость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JS/TS </a:t>
                      </a:r>
                      <a:r>
                        <a:rPr lang="ru-RU" dirty="0"/>
                        <a:t>единый стек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dirty="0"/>
                        <a:t>Асинхронность</a:t>
                      </a:r>
                      <a:endParaRPr lang="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23014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Django (Python)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Бэкенд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Быстрая разработка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встроенный </a:t>
                      </a:r>
                      <a:r>
                        <a:rPr lang="en-US" dirty="0"/>
                        <a:t>ORM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Медленнее в </a:t>
                      </a:r>
                      <a:r>
                        <a:rPr lang="en-US" dirty="0"/>
                        <a:t>high-load </a:t>
                      </a:r>
                      <a:r>
                        <a:rPr lang="ru-RU" dirty="0"/>
                        <a:t>задачах</a:t>
                      </a:r>
                      <a:endParaRPr lang="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7892795"/>
                  </a:ext>
                </a:extLst>
              </a:tr>
              <a:tr h="890020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Laravel (PHP)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Бэкенд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dirty="0"/>
                        <a:t>Простота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много пакетов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PHP</a:t>
                      </a:r>
                      <a:r>
                        <a:rPr lang="ru-RU" dirty="0"/>
                        <a:t> может уступать по производительности</a:t>
                      </a:r>
                      <a:endParaRPr lang="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0290383"/>
                  </a:ext>
                </a:extLst>
              </a:tr>
              <a:tr h="623014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ASP.NET Core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Бэкенд (</a:t>
                      </a:r>
                      <a:r>
                        <a:rPr lang="en-US" dirty="0"/>
                        <a:t>C#)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Хорош для </a:t>
                      </a:r>
                      <a:r>
                        <a:rPr lang="en-US" dirty="0"/>
                        <a:t>enterprise,</a:t>
                      </a:r>
                      <a:r>
                        <a:rPr lang="ru-RU" dirty="0"/>
                        <a:t> интеграции с </a:t>
                      </a:r>
                      <a:r>
                        <a:rPr lang="en-US" dirty="0"/>
                        <a:t>MS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Требует </a:t>
                      </a:r>
                      <a:r>
                        <a:rPr lang="en-US" dirty="0"/>
                        <a:t>.NET-</a:t>
                      </a:r>
                      <a:r>
                        <a:rPr lang="ru-RU" dirty="0"/>
                        <a:t>компетенций</a:t>
                      </a:r>
                      <a:endParaRPr lang="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1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3803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E7A31-8DF9-3212-E12C-CB36A556F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5FB2D-B70F-6172-2AED-95BD4F3D0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Инструментальное (инфраструктура и </a:t>
            </a:r>
            <a:r>
              <a:rPr lang="en-US" dirty="0"/>
              <a:t>DevOps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99733A-0725-4306-75E5-203C8BDB0D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graphicFrame>
        <p:nvGraphicFramePr>
          <p:cNvPr id="6" name="Местозаполнитель таблицы 3">
            <a:extLst>
              <a:ext uri="{FF2B5EF4-FFF2-40B4-BE49-F238E27FC236}">
                <a16:creationId xmlns:a16="http://schemas.microsoft.com/office/drawing/2014/main" id="{9A52B4BD-5212-E30C-F273-C2AF9E849B4C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51348427"/>
              </p:ext>
            </p:extLst>
          </p:nvPr>
        </p:nvGraphicFramePr>
        <p:xfrm>
          <a:off x="-2" y="2199861"/>
          <a:ext cx="12192002" cy="44295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5050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3871285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384836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130831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369839"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ПО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Назначение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Достоинства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Недостатки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736834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Docker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dirty="0"/>
                        <a:t>Контейнеризация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Портируемость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простые деплои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dirty="0"/>
                        <a:t>Сложность в обучении</a:t>
                      </a:r>
                      <a:endParaRPr lang="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736834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Kubernetes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Оркестрация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Масштабируемость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множество сервисов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Сложность настройки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736834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AWS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Облако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dirty="0"/>
                        <a:t>Масштабируемость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автоматизация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Дороговизна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сложное управление</a:t>
                      </a:r>
                      <a:endParaRPr lang="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924599">
                <a:tc>
                  <a:txBody>
                    <a:bodyPr/>
                    <a:lstStyle/>
                    <a:p>
                      <a:pPr algn="ctr" rtl="0"/>
                      <a:r>
                        <a:rPr lang="en-US" dirty="0" err="1"/>
                        <a:t>DigitalOcean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Облако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" dirty="0"/>
                        <a:t>Простота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дешевле </a:t>
                      </a:r>
                      <a:r>
                        <a:rPr lang="en-US" dirty="0"/>
                        <a:t>AWS</a:t>
                      </a:r>
                      <a:endParaRPr lang="ru" dirty="0"/>
                    </a:p>
                    <a:p>
                      <a:pPr algn="ctr" rtl="0"/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Меньше сервисов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924599">
                <a:tc>
                  <a:txBody>
                    <a:bodyPr/>
                    <a:lstStyle/>
                    <a:p>
                      <a:pPr algn="ctr" rtl="0"/>
                      <a:r>
                        <a:rPr lang="en-US" dirty="0" err="1"/>
                        <a:t>Vercel</a:t>
                      </a:r>
                      <a:r>
                        <a:rPr lang="en-US" dirty="0"/>
                        <a:t>/Netlify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Хостинг фронтенда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Отлично для </a:t>
                      </a:r>
                      <a:r>
                        <a:rPr lang="en-US" dirty="0"/>
                        <a:t>Next.js/Vue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Только фронтенд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ограниченные бэкенд-возможности</a:t>
                      </a:r>
                      <a:endParaRPr lang="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192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7276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EB893-2782-602F-7B05-9F200E726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C8FFFE-1570-9E85-9269-29AAD011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Системное (базы данных)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DBAD7F-3BA4-5F59-5D31-828D7F3C6C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graphicFrame>
        <p:nvGraphicFramePr>
          <p:cNvPr id="6" name="Местозаполнитель таблицы 3">
            <a:extLst>
              <a:ext uri="{FF2B5EF4-FFF2-40B4-BE49-F238E27FC236}">
                <a16:creationId xmlns:a16="http://schemas.microsoft.com/office/drawing/2014/main" id="{8FE88129-8C0B-AD77-CA19-05F1466B9CC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977293198"/>
              </p:ext>
            </p:extLst>
          </p:nvPr>
        </p:nvGraphicFramePr>
        <p:xfrm>
          <a:off x="987149" y="2131499"/>
          <a:ext cx="10515600" cy="385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1855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3338983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056921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1837841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565981"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СУБД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Тип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Достоинства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Недостатки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PostgreSQL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dirty="0"/>
                        <a:t>Реляционная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ACID, </a:t>
                      </a:r>
                      <a:r>
                        <a:rPr lang="ru-RU" dirty="0"/>
                        <a:t>расширенные типы (</a:t>
                      </a:r>
                      <a:r>
                        <a:rPr lang="en-US" dirty="0"/>
                        <a:t>JSONB),</a:t>
                      </a:r>
                      <a:r>
                        <a:rPr lang="ru-RU" dirty="0"/>
                        <a:t> масштабируемость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Сложнее в администрировании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MySQL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Реляционная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Простая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популярная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много хостингов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Меньше возможностей чем в </a:t>
                      </a:r>
                      <a:r>
                        <a:rPr lang="en-US" dirty="0"/>
                        <a:t>PostgreSQL</a:t>
                      </a:r>
                      <a:endParaRPr lang="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MongoDB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Документоориентированная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Гибкая схема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масштабируемость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dirty="0"/>
                        <a:t>Сложнее транзакции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не всегда удобно для заказов</a:t>
                      </a:r>
                      <a:endParaRPr lang="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2485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0D053-12F3-6DCF-774C-5C21DA35A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8AB59-27F6-616C-120B-176D4FA44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Прикладное (готовые движки)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E65518-D5B6-88DA-0D16-F97C92E655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12</a:t>
            </a:fld>
            <a:endParaRPr lang="en-US" dirty="0"/>
          </a:p>
        </p:txBody>
      </p:sp>
      <p:graphicFrame>
        <p:nvGraphicFramePr>
          <p:cNvPr id="6" name="Местозаполнитель таблицы 3">
            <a:extLst>
              <a:ext uri="{FF2B5EF4-FFF2-40B4-BE49-F238E27FC236}">
                <a16:creationId xmlns:a16="http://schemas.microsoft.com/office/drawing/2014/main" id="{8E881F8B-807A-CC17-9276-4DD49B866A1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029251008"/>
              </p:ext>
            </p:extLst>
          </p:nvPr>
        </p:nvGraphicFramePr>
        <p:xfrm>
          <a:off x="632789" y="2241550"/>
          <a:ext cx="1119477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3821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3554639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189772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1956543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301319"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Движок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Тип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Достоинства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Недостатки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Magento(Adobe Commerce)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Open Source / Enterprise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dirty="0"/>
                        <a:t>Богатый функционал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масштабируемость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Сложная настройка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высокая стоимость поддержки</a:t>
                      </a:r>
                      <a:endParaRPr lang="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Shopify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SaaS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Быстрый запуск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хостинг включён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Ограниченная масштабируемость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WooCommerce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WordPress </a:t>
                      </a:r>
                      <a:r>
                        <a:rPr lang="ru-RU" dirty="0"/>
                        <a:t>плагин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Легкий старт</a:t>
                      </a:r>
                      <a:r>
                        <a:rPr lang="en-US" dirty="0"/>
                        <a:t>, </a:t>
                      </a:r>
                      <a:r>
                        <a:rPr lang="ru-RU" dirty="0"/>
                        <a:t>интеграция с </a:t>
                      </a:r>
                      <a:r>
                        <a:rPr lang="en-US" dirty="0"/>
                        <a:t>WP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Ограниченная масштабируемость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OpenCart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Open Source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dirty="0"/>
                        <a:t>Бесплатный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простой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Меньше функций из коробки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565981">
                <a:tc>
                  <a:txBody>
                    <a:bodyPr/>
                    <a:lstStyle/>
                    <a:p>
                      <a:pPr algn="ctr" rtl="0"/>
                      <a:r>
                        <a:rPr lang="en-US" dirty="0" err="1"/>
                        <a:t>Saleor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Headless,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Python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Современный </a:t>
                      </a:r>
                      <a:r>
                        <a:rPr lang="en-US" dirty="0"/>
                        <a:t>API-first </a:t>
                      </a:r>
                      <a:r>
                        <a:rPr lang="ru-RU" dirty="0"/>
                        <a:t>подход</a:t>
                      </a:r>
                      <a:endParaRPr lang="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dirty="0"/>
                        <a:t>Требует опытной команды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0081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3926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6D76D-1BA1-EAA9-2194-F0C494591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Замещающая рамка рисунка 4">
            <a:extLst>
              <a:ext uri="{FF2B5EF4-FFF2-40B4-BE49-F238E27FC236}">
                <a16:creationId xmlns:a16="http://schemas.microsoft.com/office/drawing/2014/main" id="{13A1A423-AE35-362B-D961-38585D5DA7C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3AB9D251-8913-5FB3-84EF-6B322B3F5B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ru-RU" dirty="0">
                <a:solidFill>
                  <a:schemeClr val="tx1"/>
                </a:solidFill>
              </a:rPr>
              <a:t>Вывод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Местозаполнитель нижнего колонтитула 3">
            <a:extLst>
              <a:ext uri="{FF2B5EF4-FFF2-40B4-BE49-F238E27FC236}">
                <a16:creationId xmlns:a16="http://schemas.microsoft.com/office/drawing/2014/main" id="{24DB0245-6F2C-7D7F-2302-FD2742F9116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4114800" cy="365125"/>
          </a:xfrm>
        </p:spPr>
        <p:txBody>
          <a:bodyPr rtlCol="0"/>
          <a:lstStyle/>
          <a:p>
            <a:pPr rtl="0"/>
            <a:endParaRPr lang="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B4B22AA-3B3A-2C7C-A918-336EA810F8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356350"/>
            <a:ext cx="784225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13</a:t>
            </a:fld>
            <a:endParaRPr lang="en-US" dirty="0"/>
          </a:p>
        </p:txBody>
      </p:sp>
      <p:sp>
        <p:nvSpPr>
          <p:cNvPr id="11" name="Табличка 10">
            <a:extLst>
              <a:ext uri="{FF2B5EF4-FFF2-40B4-BE49-F238E27FC236}">
                <a16:creationId xmlns:a16="http://schemas.microsoft.com/office/drawing/2014/main" id="{49775137-3344-551A-151C-81C31FF5A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2854" y="1782305"/>
            <a:ext cx="9546956" cy="3270142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A07D1BA-9C38-C02A-C430-35981F4A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561" y="4925255"/>
            <a:ext cx="972078" cy="28538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F6E549D-A929-C239-26DF-B41C64E64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5608561" y="1624116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44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EEBFBF-F8B0-D44E-B6BF-4A0429AC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10815364" cy="1600200"/>
          </a:xfrm>
        </p:spPr>
        <p:txBody>
          <a:bodyPr rtlCol="0">
            <a:normAutofit fontScale="90000"/>
          </a:bodyPr>
          <a:lstStyle/>
          <a:p>
            <a:pPr rtl="0"/>
            <a:r>
              <a:rPr lang="ru" dirty="0"/>
              <a:t>Оптимальные варианты для проектирования и разработки интернет-магазина музыкального оборудывания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AD44121-A8E9-49A3-B086-E9F57817889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0692" y="2485710"/>
            <a:ext cx="2479747" cy="3502152"/>
          </a:xfrm>
        </p:spPr>
        <p:txBody>
          <a:bodyPr rtlCol="0">
            <a:normAutofit/>
          </a:bodyPr>
          <a:lstStyle/>
          <a:p>
            <a:pPr rtl="0"/>
            <a:r>
              <a:rPr lang="ru" dirty="0"/>
              <a:t>Пройдясь по всем таблицам сравнения ПО</a:t>
            </a:r>
            <a:r>
              <a:rPr lang="en-US" dirty="0"/>
              <a:t>, </a:t>
            </a:r>
            <a:r>
              <a:rPr lang="ru-RU" dirty="0"/>
              <a:t>я выбрала самые привлекательные и оптимальные варианты</a:t>
            </a:r>
            <a:r>
              <a:rPr lang="en-US" dirty="0"/>
              <a:t>.</a:t>
            </a:r>
            <a:endParaRPr lang="ru" dirty="0"/>
          </a:p>
        </p:txBody>
      </p:sp>
      <p:graphicFrame>
        <p:nvGraphicFramePr>
          <p:cNvPr id="7" name="Местозаполнитель таблицы 2">
            <a:extLst>
              <a:ext uri="{FF2B5EF4-FFF2-40B4-BE49-F238E27FC236}">
                <a16:creationId xmlns:a16="http://schemas.microsoft.com/office/drawing/2014/main" id="{7B166768-B202-E472-5FBC-6570BDBFBD7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216495714"/>
              </p:ext>
            </p:extLst>
          </p:nvPr>
        </p:nvGraphicFramePr>
        <p:xfrm>
          <a:off x="3643233" y="3246186"/>
          <a:ext cx="7572214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75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686552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019281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956541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  <a:gridCol w="956541">
                  <a:extLst>
                    <a:ext uri="{9D8B030D-6E8A-4147-A177-3AD203B41FA5}">
                      <a16:colId xmlns:a16="http://schemas.microsoft.com/office/drawing/2014/main" val="323065344"/>
                    </a:ext>
                  </a:extLst>
                </a:gridCol>
                <a:gridCol w="956541">
                  <a:extLst>
                    <a:ext uri="{9D8B030D-6E8A-4147-A177-3AD203B41FA5}">
                      <a16:colId xmlns:a16="http://schemas.microsoft.com/office/drawing/2014/main" val="1515261352"/>
                    </a:ext>
                  </a:extLst>
                </a:gridCol>
              </a:tblGrid>
              <a:tr h="536014">
                <a:tc>
                  <a:txBody>
                    <a:bodyPr/>
                    <a:lstStyle/>
                    <a:p>
                      <a:pPr algn="ctr" rtl="0"/>
                      <a:r>
                        <a:rPr lang="ru" sz="1600" dirty="0"/>
                        <a:t>Для проектирования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sz="1600" dirty="0"/>
                        <a:t>Для фронтенда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sz="1600" dirty="0"/>
                        <a:t>Для бэкенда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sz="1600" dirty="0"/>
                        <a:t>Для базы данных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sz="1600" dirty="0"/>
                        <a:t>Для инфраструктуры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sz="1600" dirty="0"/>
                        <a:t>Для готового решения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36014"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/>
                        <a:t>Figma</a:t>
                      </a:r>
                      <a:endParaRPr lang="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/>
                        <a:t>React</a:t>
                      </a:r>
                      <a:endParaRPr lang="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/>
                        <a:t>Node.js</a:t>
                      </a:r>
                      <a:endParaRPr lang="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/>
                        <a:t>PostgreSQL</a:t>
                      </a:r>
                      <a:endParaRPr lang="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/>
                        <a:t>Docker</a:t>
                      </a:r>
                      <a:endParaRPr lang="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/>
                        <a:t>Shopify</a:t>
                      </a:r>
                      <a:endParaRPr lang="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36014"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/>
                        <a:t>Miro</a:t>
                      </a:r>
                      <a:endParaRPr lang="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/>
                        <a:t>Next.js</a:t>
                      </a:r>
                      <a:endParaRPr lang="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err="1"/>
                        <a:t>NestJS</a:t>
                      </a:r>
                      <a:endParaRPr lang="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" sz="16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 err="1"/>
                        <a:t>DigitalOcean</a:t>
                      </a:r>
                      <a:endParaRPr lang="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/>
                        <a:t>Magento</a:t>
                      </a:r>
                      <a:endParaRPr lang="ru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</a:tbl>
          </a:graphicData>
        </a:graphic>
      </p:graphicFrame>
      <p:sp>
        <p:nvSpPr>
          <p:cNvPr id="3" name="Местозаполнитель нижнего колонтитула 2">
            <a:extLst>
              <a:ext uri="{FF2B5EF4-FFF2-40B4-BE49-F238E27FC236}">
                <a16:creationId xmlns:a16="http://schemas.microsoft.com/office/drawing/2014/main" id="{68A848C7-243A-AE13-E323-3C71FD8DA6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 rtlCol="0"/>
          <a:lstStyle/>
          <a:p>
            <a:pPr rtl="0"/>
            <a:endParaRPr lang="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C69194-7927-A259-0C43-EE59A46035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190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Замещающая рамка рисунка 11" descr="Букет цветов">
            <a:extLst>
              <a:ext uri="{FF2B5EF4-FFF2-40B4-BE49-F238E27FC236}">
                <a16:creationId xmlns:a16="http://schemas.microsoft.com/office/drawing/2014/main" id="{8AB2ECDC-2C97-9031-6EF9-11EF690976E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697D649-277C-A20F-F588-7EA2B85B1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</p:spPr>
        <p:txBody>
          <a:bodyPr rtlCol="0"/>
          <a:lstStyle/>
          <a:p>
            <a:pPr rtl="0"/>
            <a:r>
              <a:rPr lang="ru" dirty="0"/>
              <a:t>Спасибо за внимание</a:t>
            </a:r>
          </a:p>
        </p:txBody>
      </p:sp>
      <p:sp>
        <p:nvSpPr>
          <p:cNvPr id="15" name="Подзаголовок 14">
            <a:extLst>
              <a:ext uri="{FF2B5EF4-FFF2-40B4-BE49-F238E27FC236}">
                <a16:creationId xmlns:a16="http://schemas.microsoft.com/office/drawing/2014/main" id="{6EF8E06F-4153-981B-474D-3D483B6F4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</p:spPr>
        <p:txBody>
          <a:bodyPr rtlCol="0">
            <a:normAutofit/>
          </a:bodyPr>
          <a:lstStyle/>
          <a:p>
            <a:pPr rtl="0"/>
            <a:endParaRPr lang="ru" dirty="0"/>
          </a:p>
          <a:p>
            <a:pPr rtl="0"/>
            <a:r>
              <a:rPr lang="ru-RU" dirty="0"/>
              <a:t>П</a:t>
            </a:r>
            <a:r>
              <a:rPr lang="ru" dirty="0"/>
              <a:t>резентацию предоставила Жаркова Василиса</a:t>
            </a: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DE502E84-5063-F43E-AC45-9F5CEAA69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01285" y="3209689"/>
            <a:ext cx="362454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DE43C393-A639-F47D-D8A8-BAF189C58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9787" y="3066998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040838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20">
      <a:dk1>
        <a:srgbClr val="000000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ustom 23">
      <a:majorFont>
        <a:latin typeface="Baskerville Old Face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410444_Win32" id="{6DADA206-4374-4581-8974-7E917238E6AC}" vid="{0F151159-97E4-4815-A9D5-D69B011B07A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915FD3-F777-4046-A12C-BE3860E324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84BFC8-02DA-464F-AE97-4951BE47415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1E6BC5B-F32E-483D-A6CB-100D6BCB78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{F563F22E-895F-413F-B074-810ED45786A0}TF6ca04e33-feaa-4cf5-9b27-d56362f12ac087d7dd85_win32-b8961749cfd8</Template>
  <TotalTime>1985</TotalTime>
  <Words>620</Words>
  <Application>Microsoft Office PowerPoint</Application>
  <PresentationFormat>Широкоэкранный</PresentationFormat>
  <Paragraphs>180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Baskerville Old Face</vt:lpstr>
      <vt:lpstr>Calibri</vt:lpstr>
      <vt:lpstr>Gill Sans Nova Light</vt:lpstr>
      <vt:lpstr>Пользовательская</vt:lpstr>
      <vt:lpstr>Проектирование и разработка интернет-магазина музыкального оборудования</vt:lpstr>
      <vt:lpstr>Содержание:</vt:lpstr>
      <vt:lpstr>Введение:Программное обеспечение</vt:lpstr>
      <vt:lpstr>Программное Обеспечение </vt:lpstr>
      <vt:lpstr>Представление ОП</vt:lpstr>
      <vt:lpstr>ПО и их предназначение:</vt:lpstr>
      <vt:lpstr>Сравнительный анализ различного программного обеспечения</vt:lpstr>
      <vt:lpstr>Инструментальное (проектирование)</vt:lpstr>
      <vt:lpstr>Инструментальное (разработка)</vt:lpstr>
      <vt:lpstr>Инструментальное (инфраструктура и DevOps)</vt:lpstr>
      <vt:lpstr>Системное (базы данных)</vt:lpstr>
      <vt:lpstr>Прикладное (готовые движки)</vt:lpstr>
      <vt:lpstr>Вывод</vt:lpstr>
      <vt:lpstr>Оптимальные варианты для проектирования и разработки интернет-магазина музыкального оборудывания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</dc:creator>
  <cp:lastModifiedBy>adm</cp:lastModifiedBy>
  <cp:revision>20</cp:revision>
  <dcterms:created xsi:type="dcterms:W3CDTF">2025-10-04T11:21:16Z</dcterms:created>
  <dcterms:modified xsi:type="dcterms:W3CDTF">2025-10-12T22:47:38Z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